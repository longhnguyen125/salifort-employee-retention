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86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5797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1005840"/>
            <a:ext cx="3200400" cy="3200400"/>
          </a:xfrm>
          <a:prstGeom prst="ellipse">
            <a:avLst/>
          </a:prstGeom>
          <a:solidFill>
            <a:srgbClr val="1A3358">
              <a:alpha val="70000"/>
            </a:srgbClr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3657600"/>
            <a:ext cx="2560320" cy="2560320"/>
          </a:xfrm>
          <a:prstGeom prst="ellipse">
            <a:avLst/>
          </a:prstGeom>
          <a:solidFill>
            <a:srgbClr val="1A3358">
              <a:alpha val="60000"/>
            </a:srgbClr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SALIFORT MOTORS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7315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Retention</a:t>
            </a:r>
            <a:endParaRPr lang="en-US" sz="4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11480" y="32461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&amp; Preventing Employee Turnover Using Machine Learning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Salifort Motors Leadership  |  Employee Retention Project  |  2026</a:t>
            </a:r>
            <a:endParaRPr 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B5C740-A844-ECC8-B6DA-4B993CD8A7C3}"/>
              </a:ext>
            </a:extLst>
          </p:cNvPr>
          <p:cNvSpPr txBox="1"/>
          <p:nvPr/>
        </p:nvSpPr>
        <p:spPr>
          <a:xfrm>
            <a:off x="3708731" y="3640508"/>
            <a:ext cx="24500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by: Long H Nguyen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employee retention matters — and why we built this model?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325880"/>
            <a:ext cx="2560320" cy="22860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84048" y="1325880"/>
            <a:ext cx="256032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11,991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84048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84048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removing duplicates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325880"/>
            <a:ext cx="2560320" cy="22860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18688" y="1325880"/>
            <a:ext cx="256032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18688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218688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the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18688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in 6 employees quit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53328" y="1325880"/>
            <a:ext cx="2560320" cy="228600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53328" y="1325880"/>
            <a:ext cx="256032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53328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053328" y="2331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53328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who will leave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3749040"/>
            <a:ext cx="8375904" cy="100584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84048" y="3749040"/>
            <a:ext cx="64008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8221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Leadership's Question: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13308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factors are most likely to make an employee leave — and can we predict it before it happens?"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Insights  —  Part 1 of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Workload, Hours &amp; Overwork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097280"/>
            <a:ext cx="64008" cy="17373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Projects = 100% Left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55448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employee assigned 7 projects left the company. Median monthly hours for this group ranged from 255–295 hrs — nearly double the standard working baseline.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82312" y="10972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82312" y="109728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19472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Quitter Groups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55448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1: Severely overworked (245–315 hrs/month) with near-zero satisfaction scores. 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050" dirty="0">
              <a:solidFill>
                <a:srgbClr val="64748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2: Underworked (~150 hrs/month) likely bored or disengaged — both groups walked out.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30175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" y="301752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Works Overtime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" y="347472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monthly hours for a 40hr/50wk employee is 166.67 hrs. Nearly all employees — even those who stayed — worked significantly above this. Overwork is the norm, not the exception.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82312" y="30175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82312" y="3017520"/>
            <a:ext cx="64008" cy="1737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19472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Drive Evaluations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347472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correlation exists between average monthly hours and last evaluation score. High scorers were almost exclusively employees working 200+ hours per month — an unfair and unsustainable standard.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Insights  —  Part 2 of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Tenure, Satisfaction &amp; Promotions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097280"/>
            <a:ext cx="64008" cy="173736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4632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4-Year Employees Are Most At Risk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55448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at the 4-year mark showed unusually low satisfaction — lower than any other tenure group. A policy change or culture shift likely occurred at this stage and was never addressed.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82312" y="10972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82312" y="109728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19472" y="11887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Long-Tenured Employees Stay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19472" y="155448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with 6+ years of tenure rarely left. Their satisfaction levels aligned with newer employees who stayed, suggesting long-term employees eventually find their footing.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7472" y="30175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" y="3017520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Are Nearly Non-Existent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" y="347472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few employees received a promotion in the last 5 years — despite many working far above average monthly hours. This disconnect between effort and reward is a key driver of dissatisfaction.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82312" y="30175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82312" y="3017520"/>
            <a:ext cx="64008" cy="1737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19472" y="31089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Gap Is Significant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9472" y="347472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 left had a mean satisfaction score of 0.44 vs 0.67 for those who stayed — a 34% gap. Satisfaction is one of the strongest single predictors of whether someone will quit.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the Prediction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40233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097280"/>
            <a:ext cx="40233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Random Forest?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09344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asking one computer to guess who will leave, we built 300–500 decision trees, each looking at slightly different employees and asking different questions. They all vote — and the majority wins.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523744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approach is far more reliable than a single model because no one tree can make a mistake that affects the final answer.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2735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 over Decision Tree?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achieved AUC 0.980 vs Decision Tree's AUC 0.970 in Round 1 — more robust, more reliable, fewer errors on unseen data.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36592" y="1097280"/>
            <a:ext cx="4059936" cy="169164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36592" y="1097280"/>
            <a:ext cx="4059936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1887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— Full Feature Set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57276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all features: satisfaction_level, average_monthly_hours, last_evaluation, tenure, number_project, department, salary, and work_accident.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2359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AUC: 0.980   |   Accuracy: 97.8%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36592" y="2926080"/>
            <a:ext cx="4059936" cy="187452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36592" y="2926080"/>
            <a:ext cx="4059936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301752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— Real-World Scenario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4015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</a:t>
            </a: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satisfaction_level</a:t>
            </a:r>
            <a:r>
              <a:rPr lang="en-US" sz="105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(not always available in practice). Replaced raw hours with a binary </a:t>
            </a: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overworked flag</a:t>
            </a:r>
            <a:r>
              <a:rPr lang="en-US" sz="105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 = working &gt;175 hrs/month). More deployable in real HR workflows.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92040" y="4370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AUC: 0.964   |   Accuracy: 96.2%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All Four Models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078992"/>
          <a:ext cx="8449056" cy="2295144"/>
        </p:xfrm>
        <a:graphic>
          <a:graphicData uri="http://schemas.openxmlformats.org/drawingml/2006/table">
            <a:tbl>
              <a:tblPr/>
              <a:tblGrid>
                <a:gridCol w="1408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— Round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— Round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 — Round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 Random Forest — Round 2  (Recommended)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47472" y="3401568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4"/>
          <p:cNvSpPr/>
          <p:nvPr/>
        </p:nvSpPr>
        <p:spPr>
          <a:xfrm>
            <a:off x="347472" y="3401568"/>
            <a:ext cx="265176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47472" y="34930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90/100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38912" y="405993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who quit that the model catches in advance — before they hand in their resignation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182112" y="3401568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182112" y="3401568"/>
            <a:ext cx="26517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182112" y="34930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missed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273552" y="405993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498 actual leavers — only 48 slipped past the model on unseen test data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016752" y="3401568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016752" y="3401568"/>
            <a:ext cx="265176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16752" y="34930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6108192" y="4059936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 on completely unseen test data across 2,998 employees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Employees to Leave?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078992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1627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last_evaluation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93392" y="1664208"/>
            <a:ext cx="960120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90088" y="1627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" y="23225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number_project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93392" y="2359152"/>
            <a:ext cx="932688" cy="23774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962656" y="23225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5488" y="3017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93392" y="3054096"/>
            <a:ext cx="576072" cy="23774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606040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37124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overworked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993392" y="3749040"/>
            <a:ext cx="274320" cy="237744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04288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" y="4480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4 features account for ~100% of prediction importance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81728" y="1078992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28032" y="11704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73168" y="16276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last_evaluation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91072" y="1664208"/>
            <a:ext cx="960120" cy="23774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87768" y="16276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73168" y="23225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number_project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91072" y="2359152"/>
            <a:ext cx="93268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60336" y="23225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73168" y="3017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91072" y="3054096"/>
            <a:ext cx="576072" cy="23774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03720" y="3017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73168" y="371246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overworked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91072" y="3749040"/>
            <a:ext cx="274320" cy="23774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01968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73168" y="4480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consistently agree on the same top 4 drivers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7472" y="4773168"/>
            <a:ext cx="8449056" cy="2743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2920" y="4782312"/>
            <a:ext cx="8138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Workload and performance evaluations predict turnover far more than department, work accidents, or salary level.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Salifort Motors should do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188720"/>
            <a:ext cx="2633472" cy="1627632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47472" y="1188720"/>
            <a:ext cx="2633472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Project Load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8424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each employee to a max of 5 projects. The data shows employees with 6–7 projects leave at dramatically higher rates.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82112" y="1188720"/>
            <a:ext cx="2633472" cy="1627632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82112" y="1188720"/>
            <a:ext cx="263347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12801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291840" y="1645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the 4-Year Mark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98424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why 4-year employees are so dissatisfied. Consider milestone promotions or compensation reviews at years 3–4.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16752" y="1188720"/>
            <a:ext cx="2633472" cy="1627632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16752" y="1188720"/>
            <a:ext cx="2633472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12801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26480" y="1645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 Overtime Culture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198424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long hours with pay or recognition — or reduce workload expectations. Most employees work well above the 166 hr/month standard.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7472" y="3017520"/>
            <a:ext cx="2633472" cy="1627632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" y="3017520"/>
            <a:ext cx="2633472" cy="6400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1089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57200" y="3474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Evaluation Criteria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381304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evaluation scores should not be reserved for 200+ hr/month workers. Shift to contribution-based metrics, not hours-based.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182112" y="3017520"/>
            <a:ext cx="2633472" cy="1627632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182112" y="3017520"/>
            <a:ext cx="2633472" cy="6400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91840" y="31089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291840" y="3474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Policies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381304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overtime pay and workload expectations are clearly communicated to all employees. Ambiguity drives dissatisfaction.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016752" y="3017520"/>
            <a:ext cx="2633472" cy="1627632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016752" y="3017520"/>
            <a:ext cx="2633472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126480" y="31089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126480" y="34747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Discussions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26480" y="381304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company-wide and team-level discussions to surface burnout. This is a systemic problem — not an individual one.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358"/>
          </a:solidFill>
          <a:ln w="12700">
            <a:solidFill>
              <a:srgbClr val="1A33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11480" y="486460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9D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achieved 96% accuracy — deploying this in HR workflows could identify at-risk employees before they resign.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1008</Words>
  <Application>Microsoft Office PowerPoint</Application>
  <PresentationFormat>On-screen Show (16:9)</PresentationFormat>
  <Paragraphs>147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Salifort Motors Employee Retention</dc:title>
  <dc:subject>PptxGenJS Presentation</dc:subject>
  <dc:creator>PptxGenJS</dc:creator>
  <cp:lastModifiedBy>Long H Nguyen</cp:lastModifiedBy>
  <cp:revision>3</cp:revision>
  <dcterms:created xsi:type="dcterms:W3CDTF">2026-03-30T19:23:32Z</dcterms:created>
  <dcterms:modified xsi:type="dcterms:W3CDTF">2026-03-30T19:29:12Z</dcterms:modified>
</cp:coreProperties>
</file>